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Credit Risk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CCEE"/>
                </a:solidFill>
                <a:latin typeface="Calibri"/>
              </a:defRPr>
            </a:pPr>
            <a:r>
              <a:t>Default Prediction for Consumer Lending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114800"/>
            <a:ext cx="3017520" cy="27432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AACC"/>
                </a:solidFill>
                <a:latin typeface="Calibri"/>
              </a:defRPr>
            </a:pPr>
            <a:r>
              <a:t>Machine Learning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Calibri"/>
              </a:defRPr>
            </a:pPr>
            <a:r>
              <a:t>What we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5F8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Key findings and business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828800"/>
            <a:ext cx="9144000" cy="457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385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5F8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38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Business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938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The near-prime lending opportunity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304288"/>
            <a:ext cx="9144000" cy="457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5F8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4140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Data Exploration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414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Dataset overview and risk driver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2779776"/>
            <a:ext cx="9144000" cy="457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8895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5F8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8895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8895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Building 182 predictive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255264"/>
            <a:ext cx="9144000" cy="457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3649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5F8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3649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Model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364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Five-model comparison and selection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730752"/>
            <a:ext cx="9144000" cy="457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8404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5F8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Model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Holdout evaluation and metrics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4206240"/>
            <a:ext cx="9144000" cy="457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31596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5F8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315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Model Explainability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3159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SHAP analysis and feature importance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681728"/>
            <a:ext cx="9144000" cy="457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7914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5F8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7914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Business Simulation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79145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Policy scenarios and profit optimization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5157216"/>
            <a:ext cx="9144000" cy="457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526694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5F8A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2669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Risk Segmentation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52669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Five-tier risk bucket system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0" y="5632704"/>
            <a:ext cx="9144000" cy="457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7424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5F8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42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Conclusion &amp; Next Steps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5742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Summary and path forward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Calibri"/>
              </a:defRPr>
            </a:pPr>
            <a:r>
              <a:t>Project overview and key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560320" cy="7772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Best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LightGBM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371600"/>
            <a:ext cx="2560320" cy="777240"/>
          </a:xfrm>
          <a:prstGeom prst="rect">
            <a:avLst/>
          </a:prstGeom>
          <a:solidFill>
            <a:srgbClr val="17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Test 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0.768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2560320" cy="7772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Default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8.07%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371600"/>
            <a:ext cx="2560320" cy="77724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0.485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377440"/>
            <a:ext cx="2560320" cy="7772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Optimal Profit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697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$112.6M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2377440"/>
            <a:ext cx="2560320" cy="777240"/>
          </a:xfrm>
          <a:prstGeom prst="rect">
            <a:avLst/>
          </a:prstGeom>
          <a:solidFill>
            <a:srgbClr val="17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Profit vs.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697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1,298% lift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377440"/>
            <a:ext cx="2560320" cy="77724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Approval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697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67.1%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2377440"/>
            <a:ext cx="2560320" cy="77724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Risk-Adj.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697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26.83%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474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model generates $104.5M more profit than current rule-based underwriting — a 1,298% improvement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0233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·  Training data: 307,511 applicants with 182 engineered features from the Home Credit dataset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805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·  LightGBM selected from 5 candidates: AUC 0.768, Gini 0.536, 69.7% recall at optimal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377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·  External credit scores (EXT_MEAN) identified as dominant risk driver (0.47 SHAP importance)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3949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·  Flexible threshold allows tuning for growth or capital preservation without retraining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8521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·  Collections prioritization via top-5% flagging yields $52,575 net benefit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Calibri"/>
              </a:defRPr>
            </a:pPr>
            <a:r>
              <a:t>The near-prime lending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Near-prime borrowers (credit scores 580–680) are underserved by traditional banks.</a:t>
            </a:r>
            <a:br/>
            <a:br/>
            <a:r>
              <a:t>They carry elevated default risk (~8%) but represent a $200B+ market opportunity.</a:t>
            </a:r>
            <a:br/>
            <a:br/>
            <a:r>
              <a:t>Accurate risk assessment is the key to serving this segment profitably.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Why Default Prediction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→  Origination: Decline high-risk or adjust terms before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→  Pricing: Risk-segmented pricing retains good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00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→  Capital: Better prediction reduces Basel III reserve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840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→  Collections: PD scores prioritize high-risk accounts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645920"/>
            <a:ext cx="4846320" cy="3200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Business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19456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A 5-point AUC improvement (0.75 → 0.80) is estimated to reduce net charge-offs by 15–20%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For a $625M portfolio, this translates to $2–3M in annual savings.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Our model achieves AUC of 0.768 — capturing the majority of this upside.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179494"/>
                </a:solidFill>
                <a:latin typeface="Calibri"/>
              </a:defRPr>
            </a:pPr>
            <a:r>
              <a:t>The AI model generates $104.5M more profit than current rule-based underwriting.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Data &amp; 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Calibri"/>
              </a:defRPr>
            </a:pPr>
            <a:r>
              <a:t>Home Credit Default Risk dataset and key risk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Dataset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·  307,511 loan applicants from Home Credit (Kaggle)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·  122 raw features: demographics, credit scores, loan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883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·  Target: TARGET — 8.07% default rate (90+ days past due)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723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·  Clean data: no duplicates, DAYS_EMPLOYED artifact identified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·  18% of applicants have the unemployment artifact flag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Top Risk Drivers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20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EXT_SOURCE_2: 6.2× risk differential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Bottom decile: 18.35% default</a:t>
            </a:r>
            <a:br/>
            <a:r>
              <a:t>Top decile: 2.97% default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Age gradient: 2.4× risk differential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Youngest (18-25): 11.74% default</a:t>
            </a:r>
            <a:br/>
            <a:r>
              <a:t>Oldest (60+): 4.92%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9319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Correlation leader: EXT_SOURCE_3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Pearson r = -0.179 (strongest signal)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937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DAYS_EMPLOYED artifact is informative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Unemployed: 5.40% default</a:t>
            </a:r>
            <a:br/>
            <a:r>
              <a:t>Employed: 8.66% 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Data Quality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Calibri"/>
              </a:defRPr>
            </a:pPr>
            <a:r>
              <a:t>From raw data to model-ready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a_default_rate_ext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303520" cy="26231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Feature Engineering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C5F8A"/>
                </a:solidFill>
                <a:latin typeface="Calibri"/>
              </a:defRPr>
            </a:pPr>
            <a:r>
              <a:t>Domain Features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DTI, LTI, ANNUITY_RATE, EXT_MEAN composite, 10+ engineered ratios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63347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C5F8A"/>
                </a:solidFill>
                <a:latin typeface="Calibri"/>
              </a:defRPr>
            </a:pPr>
            <a:r>
              <a:t>Encoding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Frequency encoding for high-cardinality, one-hot for nominal, ordinal for ordered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346704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C5F8A"/>
                </a:solidFill>
                <a:latin typeface="Calibri"/>
              </a:defRPr>
            </a:pPr>
            <a:r>
              <a:t>Missing Values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62 missing-indicator flags + median/mode imputation; zero NaN remaining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059936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C5F8A"/>
                </a:solidFill>
                <a:latin typeface="Calibri"/>
              </a:defRPr>
            </a:pPr>
            <a:r>
              <a:t>Scaling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RobustScaler for numeric features; domain-informed capping at P0.1–P99.9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77316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C5F8A"/>
                </a:solidFill>
                <a:latin typeface="Calibri"/>
              </a:defRPr>
            </a:pPr>
            <a:r>
              <a:t>Interactions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5 interaction features: EXT_2×3, DTI×EXT2, AGE_INCOME, LTI×EXT2, CAREER_INDEX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54864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C5F8A"/>
                </a:solidFill>
                <a:latin typeface="Calibri"/>
              </a:defRPr>
            </a:pPr>
            <a:r>
              <a:t>Final Set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182 features, 307,511 applicants, zero missing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Model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Calibri"/>
              </a:defRPr>
            </a:pPr>
            <a:r>
              <a:t>Five candidate models trained and compared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Data Split: 80/20 → 246,008 training, 61,503 holdout test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  <a:gridCol w="1371600"/>
                <a:gridCol w="1097280"/>
                <a:gridCol w="246888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Prec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Selection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LightGBM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 Selected</a:t>
                      </a:r>
                    </a:p>
                  </a:txBody>
                  <a:tcPr anchor="ctr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0.7668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0.256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0.181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0.651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0.283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Logistic Reg.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0.7483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anchor="ctr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0.7464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0.227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0.183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0.590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0.279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0.7231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023360"/>
            <a:ext cx="548640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B3A5C"/>
                </a:solidFill>
                <a:latin typeface="Calibri"/>
              </a:defRPr>
            </a:pPr>
            <a:r>
              <a:t>Why LightGBM Won</a:t>
            </a:r>
          </a:p>
          <a:p>
            <a:pPr algn="l">
              <a:spcAft>
                <a:spcPts val="400"/>
              </a:spcAft>
              <a:defRPr sz="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Highest AUC and average precision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Efficient leaf-wise tree growth w/ early stopping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Early stopping at 326 rounds, no overfitting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Native missing value handling</a:t>
            </a:r>
          </a:p>
        </p:txBody>
      </p:sp>
      <p:pic>
        <p:nvPicPr>
          <p:cNvPr id="10" name="Picture 9" descr="modeling_ro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4023360"/>
            <a:ext cx="3474720" cy="27704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Calibri"/>
              </a:defRPr>
            </a:pPr>
            <a:r>
              <a:t>LightGBM evaluation on held-out test set (61,503 applicants)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560320" cy="7315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AUC-ROC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0.768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371600"/>
            <a:ext cx="2560320" cy="731520"/>
          </a:xfrm>
          <a:prstGeom prst="rect">
            <a:avLst/>
          </a:prstGeom>
          <a:solidFill>
            <a:srgbClr val="17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Gini Coeff.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0.536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2560320" cy="73152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Avg 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0.258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371600"/>
            <a:ext cx="2560320" cy="73152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Recall @ thresh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69.7%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B3A5C"/>
                </a:solidFill>
                <a:latin typeface="Calibri"/>
              </a:defRPr>
            </a:pPr>
            <a:r>
              <a:t>Confusion Matrix (threshold = 0.485)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283464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37160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Predicted</a:t>
                      </a:r>
                      <a:br/>
                      <a:r>
                        <a:t>Repaid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Predicted</a:t>
                      </a:r>
                      <a:br/>
                      <a:r>
                        <a:t>Default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Actual: Repaid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39,774 (TN)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16,764 (FP)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56,538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Actual: Default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1,504 (FN)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3,461 (TP)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4,965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41,278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20,225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61,503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58368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B3A5C"/>
                </a:solidFill>
                <a:latin typeface="Calibri"/>
              </a:defRPr>
            </a:pPr>
            <a:r>
              <a:t>Model Limitations &amp; Cautions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834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!  AUC of 0.768 vs. aspirational target of 0.80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2186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!  Single-table features — multi-table may improve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60273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!  No temporal validation (random split, not time-based)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98678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!  17% precision at threshold — cost of false positives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3708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!  No formal fairness / calibration audit completed yet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Model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Calibri"/>
              </a:defRPr>
            </a:pPr>
            <a:r>
              <a:t>SHAP analysis reveals what drives default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11680"/>
                <a:gridCol w="1371600"/>
                <a:gridCol w="18288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|SHAP|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Business Interpretation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EXT_MEAN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0.4695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Composite external creditworthiness</a:t>
                      </a:r>
                    </a:p>
                  </a:txBody>
                  <a:tcPr anchor="ctr"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ANNUITY_RATE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0.1704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Annuity-to-credit ratio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AMT_GOODS_PRICE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0.1416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Loan goods price</a:t>
                      </a:r>
                    </a:p>
                  </a:txBody>
                  <a:tcPr anchor="ctr"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CODE_GENDER_M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0.1244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Gender (requires fairness audit)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EDU_ORDINAL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0.0942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Education level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7" name="Picture 6" descr="shap_summary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114800" cy="28581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B3A5C"/>
                </a:solidFill>
                <a:latin typeface="Calibri"/>
              </a:defRPr>
            </a:pPr>
            <a:r>
              <a:t>What This Means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External credit scores dominate — EXT_MEAN alone accounts for nearly half of all model explanatory power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Financial ratios (ANNUITY_RATE) provide significant independent signal beyond raw credit scores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Demographic features in top-10 → formal fairness assessment needed for regulatory compliance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Permutation importance validates SHAP: same top features, consistent rankings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Business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Calibri"/>
              </a:defRPr>
            </a:pPr>
            <a:r>
              <a:t>Five policy scenarios compared on a $625M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828800"/>
                <a:gridCol w="1645920"/>
                <a:gridCol w="1828800"/>
                <a:gridCol w="192024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Policy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Approval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Loans Funded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 Rate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 Profit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RAR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Approve 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8.11%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$129.1M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20.66%</a:t>
                      </a:r>
                    </a:p>
                  </a:txBody>
                  <a:tcPr anchor="ctr"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 Optimal (τ=0.485)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67.1%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33,561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3.62%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$112.6M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26.83%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Conservative (τ=0.30)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20,038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2.24%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$72.0M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28.73%</a:t>
                      </a:r>
                    </a:p>
                  </a:txBody>
                  <a:tcPr anchor="ctr"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Aggressive (τ=0.70)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89.4%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44,701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5.77%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$133.4M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23.87%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Current 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2,276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$8.1M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28.30%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7" name="Picture 6" descr="simulation_profi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0"/>
            <a:ext cx="3657600" cy="217878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0" y="4114800"/>
            <a:ext cx="6126480" cy="1920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429768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Finding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The AI model at optimal threshold generates $112.6M in profit vs. $8.1M from current rules.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179494"/>
                </a:solidFill>
                <a:latin typeface="Calibri"/>
              </a:defRPr>
            </a:pPr>
            <a:r>
              <a:t>That's a $104.5M improvement — 1,298% more profit.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The AI model approves 67.1% of applicants vs. just 4.6% under current rules.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The profit curve is flat between τ=0.30 and 0.60, enabling flexible risk appetite.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Profit Threshold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Calibri"/>
              </a:defRPr>
            </a:pPr>
            <a:r>
              <a:t>The optimal decision boundary balances risk and reward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ulation_profi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303520" cy="26294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Threshold Flexibility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The optimal threshold τ=0.485 was chosen to maximize the F2 score, weighting recall twice as heavily as precision — appropriate for credit risk.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At τ=0.485: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Precision = 0.171 | Recall = 0.697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Catches 69.7% of all defaults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3,461 true positives; 16,764 false positives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Adaptability Across Cycles: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Conservative (τ=0.30): 40% approval, 28.7% RAR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→ Recession-ready capital preservation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Aggressive (τ=0.70): 89% approval, $133.4M profit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→ Growth-phase market expansion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179494"/>
                </a:solidFill>
                <a:latin typeface="Calibri"/>
              </a:defRPr>
            </a:pPr>
            <a:r>
              <a:t>No retraining needed — the single threshold parameter adjusts risk appetite instantly.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Risk Segmentation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Calibri"/>
              </a:defRPr>
            </a:pPr>
            <a:r>
              <a:t>Five-tier risk bucket system for targeted portfolio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2286000"/>
                <a:gridCol w="466344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 Bucket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PD Range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Underwriting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— Lowest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Auto-approve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Preferred rates, fast funding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 — Low Risk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2–5%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Auto-approve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 terms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 — Medium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5–10%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 terms, document check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 — High Risk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10–30%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Enhanced review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Higher APR, reduced amount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 — Highest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 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Likely decline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Manual underwriting only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7" name="Picture 6" descr="simulation_risk_bu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31920"/>
            <a:ext cx="4754880" cy="195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39319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Recommended Approach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Target 60–70% approval rate to balance market reach with risk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Maintain exposure: &lt; 30% in Bucket D accounts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Buckets A–B: fully automated approval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Buckets D–E: proactive collections monitoring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Review threshold quarterly vs. performance + macro conditions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Risk buckets enable differentiated strategies across underwriting, pricing, and collections.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Collections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Calibri"/>
              </a:defRPr>
            </a:pPr>
            <a:r>
              <a:t>Using PD scores to prioritize collections on the active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2286000"/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AI-Approved Loans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33,561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Portfolio at optimal threshold</a:t>
                      </a:r>
                    </a:p>
                  </a:txBody>
                  <a:tcPr anchor="ctr"/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Actual Defaults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1,214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3.62% default rate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Top 5% Flagged for Collections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1,679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Highest PD accounts</a:t>
                      </a:r>
                    </a:p>
                  </a:txBody>
                  <a:tcPr anchor="ctr"/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Defaults Caught in Top 5%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9.8% of all defaults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Savings per Intervened 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Early intervention reduces LGD</a:t>
                      </a:r>
                    </a:p>
                  </a:txBody>
                  <a:tcPr anchor="ctr"/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Loss Savings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$178,500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119 defaults × $1,500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Collections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$125,925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$75 per account</a:t>
                      </a:r>
                    </a:p>
                  </a:txBody>
                  <a:tcPr anchor="ctr"/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Collections Benefit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$52,575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Savings minus cost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13716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Operational Impact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The PD score enables targeted collections that produce a positive net benefit even with modest per-account savings.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179494"/>
                </a:solidFill>
                <a:latin typeface="Calibri"/>
              </a:defRPr>
            </a:pPr>
            <a:r>
              <a:t>Each dollar spent on collections yields $1.42 in recovered losses.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The model can also be used to: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• Automate early intervention triggers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• Route high-risk accounts to senior collectors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• Calculate optimal collection effort per account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937760"/>
            <a:ext cx="10881360" cy="6400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5F8A"/>
                </a:solidFill>
                <a:latin typeface="Calibri"/>
              </a:defRPr>
            </a:pPr>
            <a:r>
              <a:t>The collections use case has a lower precision requirement than underwriting — even modest lift in recovery rate produces positive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Current Rules vs. AI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Calibri"/>
              </a:defRPr>
            </a:pPr>
            <a:r>
              <a:t>Why a multi-dimensional model outperforms single-variable filters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0000"/>
                </a:solidFill>
                <a:latin typeface="Calibri"/>
              </a:defRPr>
            </a:pPr>
            <a:r>
              <a:t>Current Rule-Based Policy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029200" cy="2743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Filter: EXT_SOURCE_2 &lt; 0.30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Rejects 95.4% of applicants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Filter: DTI &gt; 0.45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677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No additional impact (already filtered)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151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Filter: PREV_DEFAULT_RATE &gt;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No additional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626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Filter: LTI &gt;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9626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No additional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Result: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57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Only 4.6% 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05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Net Profit: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0050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$8.1M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6B3A"/>
                </a:solidFill>
                <a:latin typeface="Calibri"/>
              </a:defRPr>
            </a:pPr>
            <a:r>
              <a:t>AI Model-Based Policy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828800"/>
            <a:ext cx="5029200" cy="2743200"/>
          </a:xfrm>
          <a:prstGeom prst="rect">
            <a:avLst/>
          </a:prstGeom>
          <a:solidFill>
            <a:srgbClr val="E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Approach: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Multi-dimensional model (182 features)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267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Decision: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267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Probability-based threshold (τ=0.485)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9626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Approval Rate: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9626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67.1%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310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Default Rate: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310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3.62%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Net Profit: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$112.6M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05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Risk-Adj. Return: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005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26.83%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846320"/>
            <a:ext cx="10881360" cy="73152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1206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Comparison Summary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179494"/>
                </a:solidFill>
                <a:latin typeface="Calibri"/>
              </a:defRPr>
            </a:pPr>
            <a:r>
              <a:t>The AI model generates $104.5M more profit (1,298% improvement) while approving 67% of applicants vs. 4.6%.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The current rules rely on a single variable (EXT_SOURCE_2) that is overly conservative. The AI model assesses creditworthiness holistically across 182 features, correctly identifying low-risk applicants even among those with moderate external credit scores.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Calibri"/>
              </a:defRPr>
            </a:pPr>
            <a:r>
              <a:t>Summary of achievements and path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Was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LightGBM model with AUC 0.768 on holdout test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225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Full pipeline: EDA → feature engineering → modeling → explainability →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249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Seven executed Jupyter notebooks with complete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Production-ready inference module (src/inference.py) with CLI and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95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Comprehensive reports: model card, simulation results, .docx, 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30+ publication-quality figures for stakeholder presentations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Planned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920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Multi-table aggregation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Bureau, previous apps, installment payments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Impact: Target: +0.03 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97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Fairness assessment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Disparate impact analysis and bias mitigation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Impact: Regulatory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474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Model calibration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Platt scaling for calibrated probabilities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Impact: Accurate EL calculations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251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Inference API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Package inference module as deployable service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Impact: Real-time underwriting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029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C5F8A"/>
                </a:solidFill>
                <a:latin typeface="Calibri"/>
              </a:defRPr>
            </a:pPr>
            <a:r>
              <a:t>Temporal validation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Time-based train/test split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Impact: Generalization confidence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486400"/>
            <a:ext cx="10881360" cy="18288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t>The model generates $104.5M more profit than current rules. Flexible threshold allows tuning for growth or capital preservation across business cycles.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